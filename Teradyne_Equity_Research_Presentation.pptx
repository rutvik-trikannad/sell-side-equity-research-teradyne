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8288000" cy="10287000"/>
  <p:notesSz cx="6858000" cy="9144000"/>
  <p:embeddedFontLst>
    <p:embeddedFont>
      <p:font typeface="Roboto" panose="02000000000000000000" pitchFamily="2" charset="0"/>
      <p:regular r:id="rId9"/>
      <p:bold r:id="rId10"/>
    </p:embeddedFont>
    <p:embeddedFont>
      <p:font typeface="Roboto Bold" panose="02000000000000000000" pitchFamily="2" charset="0"/>
      <p:regular r:id="rId11"/>
      <p:bold r:id="rId12"/>
    </p:embeddedFont>
    <p:embeddedFont>
      <p:font typeface="Trocchi" pitchFamily="2" charset="77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58" autoAdjust="0"/>
  </p:normalViewPr>
  <p:slideViewPr>
    <p:cSldViewPr>
      <p:cViewPr varScale="1">
        <p:scale>
          <a:sx n="80" d="100"/>
          <a:sy n="80" d="100"/>
        </p:scale>
        <p:origin x="81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6420538"/>
            <a:ext cx="13004096" cy="0"/>
          </a:xfrm>
          <a:prstGeom prst="line">
            <a:avLst/>
          </a:prstGeom>
          <a:ln w="38100" cap="flat">
            <a:solidFill>
              <a:srgbClr val="23304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351310" y="6420538"/>
            <a:ext cx="6805679" cy="680567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0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8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997213" y="565444"/>
            <a:ext cx="1262087" cy="1534452"/>
          </a:xfrm>
          <a:custGeom>
            <a:avLst/>
            <a:gdLst/>
            <a:ahLst/>
            <a:cxnLst/>
            <a:rect l="l" t="t" r="r" b="b"/>
            <a:pathLst>
              <a:path w="1262087" h="1534452">
                <a:moveTo>
                  <a:pt x="0" y="0"/>
                </a:moveTo>
                <a:lnTo>
                  <a:pt x="1262087" y="0"/>
                </a:lnTo>
                <a:lnTo>
                  <a:pt x="1262087" y="1534451"/>
                </a:lnTo>
                <a:lnTo>
                  <a:pt x="0" y="1534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3377908"/>
            <a:ext cx="15845954" cy="275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9"/>
              </a:lnSpc>
            </a:pPr>
            <a:r>
              <a:rPr lang="en-US" sz="16021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TERADYNE INC.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722159"/>
            <a:ext cx="511024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799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Rutvik Trikannad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9735" y="1085061"/>
            <a:ext cx="4430349" cy="45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7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Date prepared: 04/30/2025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658663"/>
            <a:ext cx="4641384" cy="1844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799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Current Price - $74.21</a:t>
            </a:r>
          </a:p>
          <a:p>
            <a:pPr algn="l">
              <a:lnSpc>
                <a:spcPts val="3611"/>
              </a:lnSpc>
            </a:pPr>
            <a:r>
              <a:rPr lang="en-US" sz="2799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Target Price - $89.79</a:t>
            </a:r>
          </a:p>
          <a:p>
            <a:pPr algn="l">
              <a:lnSpc>
                <a:spcPts val="3611"/>
              </a:lnSpc>
            </a:pPr>
            <a:r>
              <a:rPr lang="en-US" sz="2799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Recommendation - </a:t>
            </a:r>
            <a:r>
              <a:rPr lang="en-US" sz="2799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BUY</a:t>
            </a:r>
          </a:p>
          <a:p>
            <a:pPr algn="l">
              <a:lnSpc>
                <a:spcPts val="3611"/>
              </a:lnSpc>
            </a:pPr>
            <a:r>
              <a:rPr lang="en-US" sz="2799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Upside Potenial - 21%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62397" y="3745645"/>
            <a:ext cx="6696903" cy="3683297"/>
          </a:xfrm>
          <a:custGeom>
            <a:avLst/>
            <a:gdLst/>
            <a:ahLst/>
            <a:cxnLst/>
            <a:rect l="l" t="t" r="r" b="b"/>
            <a:pathLst>
              <a:path w="6696903" h="3683297">
                <a:moveTo>
                  <a:pt x="0" y="0"/>
                </a:moveTo>
                <a:lnTo>
                  <a:pt x="6696903" y="0"/>
                </a:lnTo>
                <a:lnTo>
                  <a:pt x="6696903" y="3683297"/>
                </a:lnTo>
                <a:lnTo>
                  <a:pt x="0" y="3683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200150"/>
            <a:ext cx="13562957" cy="141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10400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COMPANY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3436136"/>
            <a:ext cx="9806600" cy="5650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Trocchi"/>
              </a:rPr>
              <a:t>Designs and sells automated test systems</a:t>
            </a:r>
          </a:p>
          <a:p>
            <a:pPr marL="561341" lvl="1" indent="-28067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Trocchi"/>
              </a:rPr>
              <a:t>Key markets: AI, automotive, 5G, consumer electronics, aerospace, and defense</a:t>
            </a:r>
          </a:p>
          <a:p>
            <a:pPr marL="561341" lvl="1" indent="-28067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Trocchi"/>
              </a:rPr>
              <a:t>Operates in three segments:</a:t>
            </a:r>
          </a:p>
          <a:p>
            <a:pPr marL="1252221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Trocchi"/>
              </a:rPr>
              <a:t> Semiconductor Test – core driver of revenue</a:t>
            </a:r>
          </a:p>
          <a:p>
            <a:pPr marL="1252221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Trocchi"/>
              </a:rPr>
              <a:t> Robotics – fast-growing automation platform</a:t>
            </a:r>
          </a:p>
          <a:p>
            <a:pPr marL="1252221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solidFill>
                  <a:srgbClr val="23304E"/>
                </a:solidFill>
                <a:latin typeface="Roboto"/>
                <a:ea typeface="Roboto"/>
                <a:cs typeface="Roboto"/>
              </a:rPr>
              <a:t> All Other</a:t>
            </a:r>
            <a:endParaRPr lang="en-US" sz="2800" dirty="0">
              <a:solidFill>
                <a:srgbClr val="23304E"/>
              </a:solidFill>
              <a:latin typeface="Roboto"/>
              <a:ea typeface="Roboto"/>
              <a:cs typeface="Roboto"/>
              <a:sym typeface="Trocchi"/>
            </a:endParaRPr>
          </a:p>
          <a:p>
            <a:pPr algn="just">
              <a:lnSpc>
                <a:spcPts val="4630"/>
              </a:lnSpc>
            </a:pPr>
            <a:endParaRPr lang="en-US" sz="2823" spc="39" dirty="0">
              <a:solidFill>
                <a:srgbClr val="23304E"/>
              </a:solidFill>
              <a:latin typeface="Trocchi"/>
              <a:ea typeface="Trocchi"/>
              <a:cs typeface="Trocchi"/>
              <a:sym typeface="Trocchi"/>
            </a:endParaRPr>
          </a:p>
          <a:p>
            <a:pPr algn="l">
              <a:lnSpc>
                <a:spcPts val="4630"/>
              </a:lnSpc>
            </a:pPr>
            <a:endParaRPr lang="en-US" sz="2823" spc="39" dirty="0">
              <a:solidFill>
                <a:srgbClr val="23304E"/>
              </a:solidFill>
              <a:latin typeface="Trocchi"/>
              <a:ea typeface="Trocchi"/>
              <a:cs typeface="Trocchi"/>
              <a:sym typeface="Trocch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76242" y="1028700"/>
            <a:ext cx="8245779" cy="8245779"/>
          </a:xfrm>
          <a:custGeom>
            <a:avLst/>
            <a:gdLst/>
            <a:ahLst/>
            <a:cxnLst/>
            <a:rect l="l" t="t" r="r" b="b"/>
            <a:pathLst>
              <a:path w="8245779" h="8245779">
                <a:moveTo>
                  <a:pt x="0" y="0"/>
                </a:moveTo>
                <a:lnTo>
                  <a:pt x="8245779" y="0"/>
                </a:lnTo>
                <a:lnTo>
                  <a:pt x="8245779" y="8245779"/>
                </a:lnTo>
                <a:lnTo>
                  <a:pt x="0" y="8245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066925"/>
            <a:ext cx="7336725" cy="274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10400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AHA MOMENT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899410"/>
            <a:ext cx="6487476" cy="1844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NO TEST, NO TECH. TERADYNE IS THE SILENT GATEKEEPER OF THE NEXT INDUSTRIAL REVOLUTION</a:t>
            </a:r>
          </a:p>
          <a:p>
            <a:pPr algn="ctr">
              <a:lnSpc>
                <a:spcPts val="3611"/>
              </a:lnSpc>
            </a:pPr>
            <a:endParaRPr lang="en-US" sz="2799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71202" y="3381245"/>
            <a:ext cx="19454692" cy="6238809"/>
            <a:chOff x="0" y="0"/>
            <a:chExt cx="5123869" cy="16431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23869" cy="1643143"/>
            </a:xfrm>
            <a:custGeom>
              <a:avLst/>
              <a:gdLst/>
              <a:ahLst/>
              <a:cxnLst/>
              <a:rect l="l" t="t" r="r" b="b"/>
              <a:pathLst>
                <a:path w="5123869" h="1643143">
                  <a:moveTo>
                    <a:pt x="0" y="0"/>
                  </a:moveTo>
                  <a:lnTo>
                    <a:pt x="5123869" y="0"/>
                  </a:lnTo>
                  <a:lnTo>
                    <a:pt x="5123869" y="1643143"/>
                  </a:lnTo>
                  <a:lnTo>
                    <a:pt x="0" y="1643143"/>
                  </a:lnTo>
                  <a:close/>
                </a:path>
              </a:pathLst>
            </a:custGeom>
            <a:solidFill>
              <a:srgbClr val="2330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23869" cy="1662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134702"/>
            <a:ext cx="7927444" cy="4775139"/>
            <a:chOff x="0" y="0"/>
            <a:chExt cx="2087886" cy="12576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87886" cy="1257650"/>
            </a:xfrm>
            <a:custGeom>
              <a:avLst/>
              <a:gdLst/>
              <a:ahLst/>
              <a:cxnLst/>
              <a:rect l="l" t="t" r="r" b="b"/>
              <a:pathLst>
                <a:path w="2087886" h="1257650">
                  <a:moveTo>
                    <a:pt x="0" y="0"/>
                  </a:moveTo>
                  <a:lnTo>
                    <a:pt x="2087886" y="0"/>
                  </a:lnTo>
                  <a:lnTo>
                    <a:pt x="2087886" y="1257650"/>
                  </a:lnTo>
                  <a:lnTo>
                    <a:pt x="0" y="125765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87886" cy="127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8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352601"/>
            <a:ext cx="16230600" cy="141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10400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INVESTMENT THESIS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7795" y="4438650"/>
            <a:ext cx="6869254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799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SEMICONDUCTORS ARE THE BOTTLENECK OF INNOVATION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5238" y="5750202"/>
            <a:ext cx="6694368" cy="286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Chip Complexity is rising (Smaller Nodes = Higher Risk)</a:t>
            </a:r>
          </a:p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High Stakes Application Testing can’t be skipped</a:t>
            </a:r>
          </a:p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Next Gen Chips run hotter</a:t>
            </a:r>
          </a:p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 dirty="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Testing is the Final Gate</a:t>
            </a:r>
          </a:p>
          <a:p>
            <a:pPr algn="l">
              <a:lnSpc>
                <a:spcPts val="3276"/>
              </a:lnSpc>
            </a:pPr>
            <a:endParaRPr lang="en-US" sz="2600" dirty="0">
              <a:solidFill>
                <a:srgbClr val="2330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144000" y="4134702"/>
            <a:ext cx="8115300" cy="4775139"/>
            <a:chOff x="0" y="0"/>
            <a:chExt cx="2137363" cy="12576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37363" cy="1257650"/>
            </a:xfrm>
            <a:custGeom>
              <a:avLst/>
              <a:gdLst/>
              <a:ahLst/>
              <a:cxnLst/>
              <a:rect l="l" t="t" r="r" b="b"/>
              <a:pathLst>
                <a:path w="2137363" h="1257650">
                  <a:moveTo>
                    <a:pt x="0" y="0"/>
                  </a:moveTo>
                  <a:lnTo>
                    <a:pt x="2137363" y="0"/>
                  </a:lnTo>
                  <a:lnTo>
                    <a:pt x="2137363" y="1257650"/>
                  </a:lnTo>
                  <a:lnTo>
                    <a:pt x="0" y="125765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137363" cy="127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8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66695" y="4473702"/>
            <a:ext cx="6869909" cy="47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799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DIVERSIFIED END-MARKET EXPOSURE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66695" y="5750202"/>
            <a:ext cx="6869909" cy="286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Diversified Revenue Streams with Blue Chip Customer Base</a:t>
            </a:r>
          </a:p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Rising Test Demand</a:t>
            </a:r>
          </a:p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Industrial Automation Growth (New Verticals)</a:t>
            </a:r>
          </a:p>
          <a:p>
            <a:pPr marL="561341" lvl="1" indent="-280670" algn="l">
              <a:lnSpc>
                <a:spcPts val="3276"/>
              </a:lnSpc>
              <a:buFont typeface="Arial"/>
              <a:buChar char="•"/>
            </a:pPr>
            <a:r>
              <a:rPr lang="en-US" sz="2600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Strategic Resilience</a:t>
            </a:r>
          </a:p>
          <a:p>
            <a:pPr algn="l">
              <a:lnSpc>
                <a:spcPts val="3276"/>
              </a:lnSpc>
            </a:pPr>
            <a:endParaRPr lang="en-US" sz="2600">
              <a:solidFill>
                <a:srgbClr val="2330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633" y="3633536"/>
            <a:ext cx="6855422" cy="4762612"/>
          </a:xfrm>
          <a:custGeom>
            <a:avLst/>
            <a:gdLst/>
            <a:ahLst/>
            <a:cxnLst/>
            <a:rect l="l" t="t" r="r" b="b"/>
            <a:pathLst>
              <a:path w="6855422" h="4762612">
                <a:moveTo>
                  <a:pt x="0" y="0"/>
                </a:moveTo>
                <a:lnTo>
                  <a:pt x="6855422" y="0"/>
                </a:lnTo>
                <a:lnTo>
                  <a:pt x="6855422" y="4762612"/>
                </a:lnTo>
                <a:lnTo>
                  <a:pt x="0" y="4762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68" b="-11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200150"/>
            <a:ext cx="10452920" cy="141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10400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KEY FINANCIALS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39C7B7-6654-BC47-4BD9-E824DBDC7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988346"/>
              </p:ext>
            </p:extLst>
          </p:nvPr>
        </p:nvGraphicFramePr>
        <p:xfrm>
          <a:off x="8534400" y="3801778"/>
          <a:ext cx="8280399" cy="2561523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760133">
                  <a:extLst>
                    <a:ext uri="{9D8B030D-6E8A-4147-A177-3AD203B41FA5}">
                      <a16:colId xmlns:a16="http://schemas.microsoft.com/office/drawing/2014/main" val="1459725451"/>
                    </a:ext>
                  </a:extLst>
                </a:gridCol>
                <a:gridCol w="2760133">
                  <a:extLst>
                    <a:ext uri="{9D8B030D-6E8A-4147-A177-3AD203B41FA5}">
                      <a16:colId xmlns:a16="http://schemas.microsoft.com/office/drawing/2014/main" val="3711582316"/>
                    </a:ext>
                  </a:extLst>
                </a:gridCol>
                <a:gridCol w="2760133">
                  <a:extLst>
                    <a:ext uri="{9D8B030D-6E8A-4147-A177-3AD203B41FA5}">
                      <a16:colId xmlns:a16="http://schemas.microsoft.com/office/drawing/2014/main" val="4022932620"/>
                    </a:ext>
                  </a:extLst>
                </a:gridCol>
              </a:tblGrid>
              <a:tr h="579521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TERADYNE,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72703"/>
                  </a:ext>
                </a:extLst>
              </a:tr>
              <a:tr h="5795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647555"/>
                  </a:ext>
                </a:extLst>
              </a:tr>
              <a:tr h="5795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Operating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19.89%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11.15%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041168"/>
                  </a:ext>
                </a:extLst>
              </a:tr>
              <a:tr h="5795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R&amp;D Expenditure to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-3.76%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7881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E15E7B-3FDB-D686-6D10-F973869CB2C7}"/>
              </a:ext>
            </a:extLst>
          </p:cNvPr>
          <p:cNvSpPr txBox="1"/>
          <p:nvPr/>
        </p:nvSpPr>
        <p:spPr>
          <a:xfrm>
            <a:off x="8597899" y="6972300"/>
            <a:ext cx="815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1341" lvl="1" indent="-28067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23304E"/>
                </a:solidFill>
                <a:latin typeface="Roboto"/>
                <a:ea typeface="Roboto"/>
                <a:cs typeface="Roboto"/>
              </a:rPr>
              <a:t>Revenue – 13% CAGR over the next 5 years</a:t>
            </a:r>
          </a:p>
          <a:p>
            <a:pPr marL="561341" lvl="1" indent="-28067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23304E"/>
                </a:solidFill>
                <a:latin typeface="Roboto"/>
                <a:ea typeface="Roboto"/>
                <a:cs typeface="Roboto"/>
              </a:rPr>
              <a:t>FCF – 10.70% CAGR over the next 5 years</a:t>
            </a:r>
          </a:p>
          <a:p>
            <a:pPr marL="561341" lvl="1" indent="-280670">
              <a:lnSpc>
                <a:spcPct val="150000"/>
              </a:lnSpc>
              <a:buFont typeface="Arial"/>
              <a:buChar char="•"/>
            </a:pPr>
            <a:endParaRPr lang="en-US" sz="2800" dirty="0">
              <a:solidFill>
                <a:srgbClr val="23304E"/>
              </a:solidFill>
              <a:latin typeface="Roboto"/>
              <a:ea typeface="Roboto"/>
              <a:cs typeface="Roboto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45110" y="1488369"/>
            <a:ext cx="11114190" cy="7310262"/>
          </a:xfrm>
          <a:custGeom>
            <a:avLst/>
            <a:gdLst/>
            <a:ahLst/>
            <a:cxnLst/>
            <a:rect l="l" t="t" r="r" b="b"/>
            <a:pathLst>
              <a:path w="11114190" h="7310262">
                <a:moveTo>
                  <a:pt x="0" y="0"/>
                </a:moveTo>
                <a:lnTo>
                  <a:pt x="11114190" y="0"/>
                </a:lnTo>
                <a:lnTo>
                  <a:pt x="11114190" y="7310262"/>
                </a:lnTo>
                <a:lnTo>
                  <a:pt x="0" y="7310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4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093318"/>
            <a:ext cx="6483510" cy="274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10400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RISKS FACTORS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651473"/>
            <a:ext cx="13155454" cy="28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49"/>
              </a:lnSpc>
            </a:pPr>
            <a:r>
              <a:rPr lang="en-US" sz="16820" b="1">
                <a:solidFill>
                  <a:srgbClr val="23304E"/>
                </a:solidFill>
                <a:latin typeface="Roboto Bold"/>
                <a:ea typeface="Roboto Bold"/>
                <a:cs typeface="Roboto Bold"/>
                <a:sym typeface="Roboto Bold"/>
              </a:rPr>
              <a:t>THANK YOU 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7703628"/>
            <a:ext cx="11525714" cy="0"/>
          </a:xfrm>
          <a:prstGeom prst="line">
            <a:avLst/>
          </a:prstGeom>
          <a:ln w="38100" cap="flat">
            <a:solidFill>
              <a:srgbClr val="23304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351310" y="6420538"/>
            <a:ext cx="6805679" cy="680567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0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8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81075"/>
            <a:ext cx="570985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799">
                <a:solidFill>
                  <a:srgbClr val="23304E"/>
                </a:solidFill>
                <a:latin typeface="Roboto"/>
                <a:ea typeface="Roboto"/>
                <a:cs typeface="Roboto"/>
                <a:sym typeface="Roboto"/>
              </a:rPr>
              <a:t>Rutvik Trikannad</a:t>
            </a:r>
            <a:endParaRPr lang="en-US" sz="2799" dirty="0">
              <a:solidFill>
                <a:srgbClr val="2330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997213" y="565444"/>
            <a:ext cx="1262087" cy="1534452"/>
          </a:xfrm>
          <a:custGeom>
            <a:avLst/>
            <a:gdLst/>
            <a:ahLst/>
            <a:cxnLst/>
            <a:rect l="l" t="t" r="r" b="b"/>
            <a:pathLst>
              <a:path w="1262087" h="1534452">
                <a:moveTo>
                  <a:pt x="0" y="0"/>
                </a:moveTo>
                <a:lnTo>
                  <a:pt x="1262087" y="0"/>
                </a:lnTo>
                <a:lnTo>
                  <a:pt x="1262087" y="1534451"/>
                </a:lnTo>
                <a:lnTo>
                  <a:pt x="0" y="1534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206</Words>
  <Application>Microsoft Macintosh PowerPoint</Application>
  <PresentationFormat>Custom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Trocchi</vt:lpstr>
      <vt:lpstr>Calibri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Teradyne_stock pitch</dc:title>
  <cp:lastModifiedBy>RutvikShrikar Trikannad</cp:lastModifiedBy>
  <cp:revision>5</cp:revision>
  <dcterms:created xsi:type="dcterms:W3CDTF">2006-08-16T00:00:00Z</dcterms:created>
  <dcterms:modified xsi:type="dcterms:W3CDTF">2026-08-12T20:40:27Z</dcterms:modified>
  <dc:identifier>DAGmf4_wL_o</dc:identifier>
</cp:coreProperties>
</file>